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83de0bcd9c148fb" /><Relationship Type="http://schemas.openxmlformats.org/package/2006/relationships/metadata/core-properties" Target="/docProps/core.xml" Id="R2d27f1fa02b04c99" /><Relationship Type="http://schemas.openxmlformats.org/officeDocument/2006/relationships/extended-properties" Target="/docProps/app.xml" Id="Rb4c09161e3ce4b40" /><Relationship Type="http://schemas.openxmlformats.org/officeDocument/2006/relationships/custom-properties" Target="/docProps/custom.xml" Id="R98c06195376042f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cc3e8c0f10c4a5b"/>
  </p:notesMasterIdLst>
  <p:sldIdLst>
    <p:sldId id="256" r:id="R0320d07a52864df7"/>
    <p:sldId id="257" r:id="Rbe61128f4ad845b9"/>
    <p:sldId id="258" r:id="Re69d3c8bda704d2c"/>
    <p:sldId id="259" r:id="R348ba3b798e042dd"/>
    <p:sldId id="260" r:id="R20b00600479d475e"/>
    <p:sldId id="261" r:id="Re8852971678f4b9a"/>
    <p:sldId id="262" r:id="R714aeb9701734245"/>
    <p:sldId id="263" r:id="R149778d8e2a44261"/>
    <p:sldId id="264" r:id="Rade7169db1254c74"/>
    <p:sldId id="265" r:id="R937b8feab1ff44af"/>
    <p:sldId id="266" r:id="R5b376d277ea54fab"/>
    <p:sldId id="267" r:id="Ra13e72b1d9734c02"/>
    <p:sldId id="268" r:id="Rb4dc1eb3c01a4f7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320d07a52864df7" /><Relationship Type="http://schemas.openxmlformats.org/officeDocument/2006/relationships/notesMaster" Target="/ppt/notesMasters/notesMaster1.xml" Id="R0cc3e8c0f10c4a5b" /><Relationship Type="http://schemas.openxmlformats.org/officeDocument/2006/relationships/slide" Target="/ppt/slides/slide2.xml" Id="Rbe61128f4ad845b9" /><Relationship Type="http://schemas.openxmlformats.org/officeDocument/2006/relationships/slide" Target="/ppt/slides/slide3.xml" Id="Re69d3c8bda704d2c" /><Relationship Type="http://schemas.openxmlformats.org/officeDocument/2006/relationships/slide" Target="/ppt/slides/slide4.xml" Id="R348ba3b798e042dd" /><Relationship Type="http://schemas.openxmlformats.org/officeDocument/2006/relationships/slide" Target="/ppt/slides/slide5.xml" Id="R20b00600479d475e" /><Relationship Type="http://schemas.openxmlformats.org/officeDocument/2006/relationships/slide" Target="/ppt/slides/slide6.xml" Id="Re8852971678f4b9a" /><Relationship Type="http://schemas.openxmlformats.org/officeDocument/2006/relationships/slide" Target="/ppt/slides/slide7.xml" Id="R714aeb9701734245" /><Relationship Type="http://schemas.openxmlformats.org/officeDocument/2006/relationships/slide" Target="/ppt/slides/slide8.xml" Id="R149778d8e2a44261" /><Relationship Type="http://schemas.openxmlformats.org/officeDocument/2006/relationships/slide" Target="/ppt/slides/slide9.xml" Id="Rade7169db1254c74" /><Relationship Type="http://schemas.openxmlformats.org/officeDocument/2006/relationships/slide" Target="/ppt/slides/slide10.xml" Id="R937b8feab1ff44af" /><Relationship Type="http://schemas.openxmlformats.org/officeDocument/2006/relationships/slide" Target="/ppt/slides/slide11.xml" Id="R5b376d277ea54fab" /><Relationship Type="http://schemas.openxmlformats.org/officeDocument/2006/relationships/slide" Target="/ppt/slides/slide12.xml" Id="Ra13e72b1d9734c02" /><Relationship Type="http://schemas.openxmlformats.org/officeDocument/2006/relationships/slide" Target="/ppt/slides/slide13.xml" Id="Rb4dc1eb3c01a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48490bfb844a05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30911cc8e3e4243" /><Relationship Type="http://schemas.openxmlformats.org/officeDocument/2006/relationships/slide" Target="/ppt/slides/slide1.xml" Id="Rb9fa3c55eb464b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f1e1e5fb8f4a9c" /><Relationship Type="http://schemas.openxmlformats.org/officeDocument/2006/relationships/slide" Target="/ppt/slides/slide2.xml" Id="Rbe50ed6f756d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0f5dcfc2aba4e09" /><Relationship Type="http://schemas.openxmlformats.org/officeDocument/2006/relationships/slide" Target="/ppt/slides/slide3.xml" Id="R910348d2519c42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c3195a326a144a4" /><Relationship Type="http://schemas.openxmlformats.org/officeDocument/2006/relationships/slide" Target="/ppt/slides/slide4.xml" Id="R1d0fe65a828947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5f8121e7be4465e" /><Relationship Type="http://schemas.openxmlformats.org/officeDocument/2006/relationships/slide" Target="/ppt/slides/slide5.xml" Id="R90da0a2e764e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6ab02e143984390" /><Relationship Type="http://schemas.openxmlformats.org/officeDocument/2006/relationships/slide" Target="/ppt/slides/slide6.xml" Id="Red02e997d41840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c91527925ba4962" /><Relationship Type="http://schemas.openxmlformats.org/officeDocument/2006/relationships/slide" Target="/ppt/slides/slide7.xml" Id="Rf7e77b74021848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6551f6c1ef4f68" /><Relationship Type="http://schemas.openxmlformats.org/officeDocument/2006/relationships/slide" Target="/ppt/slides/slide8.xml" Id="Rdf07aec17dc04a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f6b747ebe14972" /><Relationship Type="http://schemas.openxmlformats.org/officeDocument/2006/relationships/slide" Target="/ppt/slides/slide9.xml" Id="R5105e951e1d94c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0538fb6fd164b05" /><Relationship Type="http://schemas.openxmlformats.org/officeDocument/2006/relationships/slide" Target="/ppt/slides/slide10.xml" Id="R533eead49fe548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780bb31029d47f8" /><Relationship Type="http://schemas.openxmlformats.org/officeDocument/2006/relationships/slide" Target="/ppt/slides/slide11.xml" Id="R2a3fd0bd436645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665d1ee3e664037" /><Relationship Type="http://schemas.openxmlformats.org/officeDocument/2006/relationships/slide" Target="/ppt/slides/slide12.xml" Id="Rf25bb0f69d5340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d20fb67e4ca4080" /><Relationship Type="http://schemas.openxmlformats.org/officeDocument/2006/relationships/slide" Target="/ppt/slides/slide13.xml" Id="R2e3fabf18def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Welcome. This presentation walks through a complete supermarket sales analytics project built in Python with a Streamlit dashboard frontend.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clearly defined steps take us from raw CSV to actionable business decisions. Steps 1–3 are handled in data_loader.py, step 4 in analytics.py, and steps 5–6 in app.py.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dataset has 500 rows and 13 columns. After running all quality checks — missing values, duplicates, negative fields, and Sales recalculation — zero issues were found. The data is production-ready.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These eight KPIs summarise the entire dataset at a glance. Total revenue of ₹2,44,411 across 500 invoices gives an average order value of ₹488.82. The overall customer satisfaction score is 3.99 out of 5.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Beverages dominate at 23% of revenue. Notably, Bakery scores highest on customer satisfaction (4.24) but contributes only 2.7% of revenue — a clear growth opportunity through promotions or bundling.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Mumbai Branch C is the clear revenue leader at ₹72,469. Bengaluru leads on customer satisfaction with a 4.09 rating. Jaipur needs focused attention on both volume growth and satisfaction improvement.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Member customers drive volume (58.5% of revenue) but spend less per order than Normal customers. The near-equal gender split indicates broad demographic appeal — a healthy sign for a retail operation.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UPI leads both by revenue share (27.8%) and average order value (₹534.73). Together, digital payments — UPI, Net Banking, and Card — account for 77.9% of revenue. Customers are clearly comfortable with cashless transactions.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April is the standout month across all three metrics — revenue, transaction count, and average order value. February is the weakest full month. Stock up and launch campaigns before April each year.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Cheese, Coffee, and Shampoo are tightly clustered near ₹27,500 in revenue. Coffee leads in units sold at 153. Tea has the highest rating of the top 5 at 4.02, indicating strong customer satisfaction and repeat purchase potential.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These 7 insights cover category strategy, branch operations, payment partnerships, membership restructuring, seasonal planning, and customer satisfaction. Each has a clear, actionable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project uses four Python libraries. Data loading and cleaning is in data_loader.py, aggregation in analytics.py, and the full Streamlit dashboard in app.py. Run with 'streamlit run app.py'.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 summarise: the dataset is clean, Beverages leads revenue, Mumbai is the top branch, digital payments dominate, April is peak month, and customer satisfaction can be improved with targeted actions.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364b3c40747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f4b42c6e549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72f84f9a14b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7c601ba8a4f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520b0e5fc47a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fd97168cdac4a5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b48ed2d714be6" /><Relationship Type="http://schemas.openxmlformats.org/officeDocument/2006/relationships/notesSlide" Target="/ppt/notesSlides/notesSlide1.xml" Id="R0ec6759d159e46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5807042b54448" /><Relationship Type="http://schemas.openxmlformats.org/officeDocument/2006/relationships/notesSlide" Target="/ppt/notesSlides/notesSlide2.xml" Id="R6b522733719e4f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b37ac828346b8" /><Relationship Type="http://schemas.openxmlformats.org/officeDocument/2006/relationships/notesSlide" Target="/ppt/notesSlides/notesSlide3.xml" Id="R0b8d28887243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b369a5cc469c" /><Relationship Type="http://schemas.openxmlformats.org/officeDocument/2006/relationships/notesSlide" Target="/ppt/notesSlides/notesSlide4.xml" Id="R0927d8b192de4d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788f347424882" /><Relationship Type="http://schemas.openxmlformats.org/officeDocument/2006/relationships/notesSlide" Target="/ppt/notesSlides/notesSlide5.xml" Id="R6a2425661ff548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360873ae24af1" /><Relationship Type="http://schemas.openxmlformats.org/officeDocument/2006/relationships/notesSlide" Target="/ppt/notesSlides/notesSlide6.xml" Id="Rcc66677663904d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c89dda8864a41" /><Relationship Type="http://schemas.openxmlformats.org/officeDocument/2006/relationships/notesSlide" Target="/ppt/notesSlides/notesSlide7.xml" Id="Rc188fa278feb42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a2409d699481b" /><Relationship Type="http://schemas.openxmlformats.org/officeDocument/2006/relationships/notesSlide" Target="/ppt/notesSlides/notesSlide8.xml" Id="R22812ae12a2243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9327182ce4e6b" /><Relationship Type="http://schemas.openxmlformats.org/officeDocument/2006/relationships/notesSlide" Target="/ppt/notesSlides/notesSlide9.xml" Id="R858f99f1d6f241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9ba4ffffa4293" /><Relationship Type="http://schemas.openxmlformats.org/officeDocument/2006/relationships/notesSlide" Target="/ppt/notesSlides/notesSlide10.xml" Id="Reb683c77be134d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608df30574054" /><Relationship Type="http://schemas.openxmlformats.org/officeDocument/2006/relationships/notesSlide" Target="/ppt/notesSlides/notesSlide11.xml" Id="Rf3678645371a47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0cd2be36643f6" /><Relationship Type="http://schemas.openxmlformats.org/officeDocument/2006/relationships/notesSlide" Target="/ppt/notesSlides/notesSlide12.xml" Id="R059e0beb096b49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7f96178a34d4f" /><Relationship Type="http://schemas.openxmlformats.org/officeDocument/2006/relationships/notesSlide" Target="/ppt/notesSlides/notesSlide13.xml" Id="R35adaa46f78744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540000" y="43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7DD3FC"/>
                </a:solidFill>
              </a:rPr>
              <a:t>DATA ANALYTICS PROJECT REPORT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900000"/>
            <a:ext cx="1080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Supermarket Sales</a:t>
            </a:r>
          </a:p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Analytics Dashboard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2808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93C5FD"/>
                </a:solidFill>
              </a:rPr>
              <a:t>End-to-end data analysis using Python · Pandas · Plotly · Streamlit</a:t>
            </a:r>
          </a:p>
        </p:txBody>
      </p:sp>
      <p:sp>
        <p:nvSpPr>
          <p:cNvPr id="100003" name="Meta"/>
          <p:cNvSpPr txBox="1"/>
          <p:nvPr/>
        </p:nvSpPr>
        <p:spPr>
          <a:xfrm xmlns:a="http://schemas.openxmlformats.org/drawingml/2006/main">
            <a:off x="540000" y="3384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BFDBFE"/>
                </a:solidFill>
              </a:rPr>
              <a:t>500 Transactions  |  4 Cities  |  8 Categories  |  Jan – Jul 2026</a:t>
            </a:r>
          </a:p>
        </p:txBody>
      </p:sp>
      <p:sp>
        <p:nvSpPr>
          <p:cNvPr id="100004" name="Divider"/>
          <p:cNvSpPr txBox="1"/>
          <p:nvPr/>
        </p:nvSpPr>
        <p:spPr>
          <a:xfrm xmlns:a="http://schemas.openxmlformats.org/drawingml/2006/main">
            <a:off x="540000" y="3960000"/>
            <a:ext cx="1080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F6"/>
              </a:solidFill>
            </a:endParaRPr>
          </a:p>
        </p:txBody>
      </p:sp>
      <p:sp>
        <p:nvSpPr>
          <p:cNvPr id="100005" name="Footer"/>
          <p:cNvSpPr txBox="1"/>
          <p:nvPr/>
        </p:nvSpPr>
        <p:spPr>
          <a:xfrm xmlns:a="http://schemas.openxmlformats.org/drawingml/2006/main">
            <a:off x="540000" y="4140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60A5FA"/>
                </a:solidFill>
              </a:rPr>
              <a:t>Python 3.13  ·  Pandas  ·  Plotly  ·  Streamlit  ·  Dataset: SUPER MARKET DATA.csv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6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07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02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Project Overview</a:t>
            </a:r>
          </a:p>
        </p:txBody>
      </p:sp>
      <p:sp>
        <p:nvSpPr>
          <p:cNvPr id="100009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6-Step Methodology</a:t>
            </a:r>
          </a:p>
        </p:txBody>
      </p:sp>
      <p:sp>
        <p:nvSpPr>
          <p:cNvPr id="100010" name="Step1"/>
          <p:cNvSpPr txBox="1"/>
          <p:nvPr/>
        </p:nvSpPr>
        <p:spPr>
          <a:xfrm xmlns:a="http://schemas.openxmlformats.org/drawingml/2006/main">
            <a:off x="540000" y="1152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01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Load Dataset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Read CSV with pandas, parse dates, identify 13 columns across 500 rows.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data_loader.py</a:t>
            </a:r>
          </a:p>
        </p:txBody>
      </p:sp>
      <p:sp>
        <p:nvSpPr>
          <p:cNvPr id="100011" name="Step2"/>
          <p:cNvSpPr txBox="1"/>
          <p:nvPr/>
        </p:nvSpPr>
        <p:spPr>
          <a:xfrm xmlns:a="http://schemas.openxmlformats.org/drawingml/2006/main">
            <a:off x="4140000" y="1152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02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Data Quality Check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Scan for missing values, duplicate invoice IDs, and negative numerics.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data_loader.py</a:t>
            </a:r>
          </a:p>
        </p:txBody>
      </p:sp>
      <p:sp>
        <p:nvSpPr>
          <p:cNvPr id="100012" name="Step3"/>
          <p:cNvSpPr txBox="1"/>
          <p:nvPr/>
        </p:nvSpPr>
        <p:spPr>
          <a:xfrm xmlns:a="http://schemas.openxmlformats.org/drawingml/2006/main">
            <a:off x="7740000" y="1152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03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Sales Calculation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Recalculate Sales = Qty × Unit Price for every row to guarantee consistency.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data_loader.py</a:t>
            </a:r>
          </a:p>
        </p:txBody>
      </p:sp>
      <p:sp>
        <p:nvSpPr>
          <p:cNvPr id="100013" name="Step4"/>
          <p:cNvSpPr txBox="1"/>
          <p:nvPr/>
        </p:nvSpPr>
        <p:spPr>
          <a:xfrm xmlns:a="http://schemas.openxmlformats.org/drawingml/2006/main">
            <a:off x="540000" y="324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04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Group &amp; Summarise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Aggregate by category, branch, customer type, gender, payment &amp; time.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analytics.py</a:t>
            </a:r>
          </a:p>
        </p:txBody>
      </p:sp>
      <p:sp>
        <p:nvSpPr>
          <p:cNvPr id="100014" name="Step5"/>
          <p:cNvSpPr txBox="1"/>
          <p:nvPr/>
        </p:nvSpPr>
        <p:spPr>
          <a:xfrm xmlns:a="http://schemas.openxmlformats.org/drawingml/2006/main">
            <a:off x="4140000" y="324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05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Visualise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20+ interactive Plotly charts in 8 Streamlit tabs with sidebar filters.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app.py</a:t>
            </a:r>
          </a:p>
        </p:txBody>
      </p:sp>
      <p:sp>
        <p:nvSpPr>
          <p:cNvPr id="100015" name="Step6"/>
          <p:cNvSpPr txBox="1"/>
          <p:nvPr/>
        </p:nvSpPr>
        <p:spPr>
          <a:xfrm xmlns:a="http://schemas.openxmlformats.org/drawingml/2006/main">
            <a:off x="7740000" y="3240000"/>
            <a:ext cx="34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06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Business Insights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7 data-driven recommendations for inventory, marketing &amp; operations.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app.py + analytics.py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6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17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03</a:t>
            </a:r>
          </a:p>
        </p:txBody>
      </p:sp>
      <p:sp>
        <p:nvSpPr>
          <p:cNvPr id="100018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Dataset &amp; Data Quality</a:t>
            </a:r>
          </a:p>
        </p:txBody>
      </p:sp>
      <p:sp>
        <p:nvSpPr>
          <p:cNvPr id="100019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Steps 1 &amp; 2 — Load and validate the CSV</a:t>
            </a:r>
          </a:p>
        </p:txBody>
      </p:sp>
      <p:sp>
        <p:nvSpPr>
          <p:cNvPr id="100020" name="ProfileTitle"/>
          <p:cNvSpPr txBox="1"/>
          <p:nvPr/>
        </p:nvSpPr>
        <p:spPr>
          <a:xfrm xmlns:a="http://schemas.openxmlformats.org/drawingml/2006/main">
            <a:off x="540000" y="1152000"/>
            <a:ext cx="52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Dataset Profile</a:t>
            </a:r>
          </a:p>
        </p:txBody>
      </p:sp>
      <p:sp>
        <p:nvSpPr>
          <p:cNvPr id="100021" name="Profile"/>
          <p:cNvSpPr txBox="1"/>
          <p:nvPr/>
        </p:nvSpPr>
        <p:spPr>
          <a:xfrm xmlns:a="http://schemas.openxmlformats.org/drawingml/2006/main">
            <a:off x="540000" y="1440000"/>
            <a:ext cx="522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File:  supermarket_data.csv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Rows:  500 transactions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Columns:  13 fields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Date Range:  Jan 1 – Jul 1, 2026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Cities:  Mumbai · Delhi · Bengaluru · Jaipur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Branches:  A, B, C, D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Categories:  8 product lines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Products:  20 unique SKUs</a:t>
            </a:r>
          </a:p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Payment Types:  Card · Cash · UPI · Net Banking</a:t>
            </a:r>
          </a:p>
        </p:txBody>
      </p:sp>
      <p:sp>
        <p:nvSpPr>
          <p:cNvPr id="100022" name="QualityTitle"/>
          <p:cNvSpPr txBox="1"/>
          <p:nvPr/>
        </p:nvSpPr>
        <p:spPr>
          <a:xfrm xmlns:a="http://schemas.openxmlformats.org/drawingml/2006/main">
            <a:off x="6120000" y="1152000"/>
            <a:ext cx="52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Quality Check Results</a:t>
            </a:r>
          </a:p>
        </p:txBody>
      </p:sp>
      <p:sp>
        <p:nvSpPr>
          <p:cNvPr id="100023" name="Quality"/>
          <p:cNvSpPr txBox="1"/>
          <p:nvPr/>
        </p:nvSpPr>
        <p:spPr>
          <a:xfrm xmlns:a="http://schemas.openxmlformats.org/drawingml/2006/main">
            <a:off x="6120000" y="1440000"/>
            <a:ext cx="522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Missing Values:             0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Duplicate Invoice IDs:    0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Negative Quantity Rows:  0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Negative Unit Price:       0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Negative Sales Rows:      0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Sales Mismatch Rows:      0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✅  Dataset is 100% clean</a:t>
            </a:r>
          </a:p>
          <a:p xmlns:a="http://schemas.openxmlformats.org/drawingml/2006/main">
            <a:r>
              <a:rPr lang="en-US" sz="1400">
                <a:solidFill>
                  <a:srgbClr val="166534"/>
                </a:solidFill>
              </a:rPr>
              <a:t>    No issues detected</a:t>
            </a:r>
          </a:p>
        </p:txBody>
      </p:sp>
      <p:sp>
        <p:nvSpPr>
          <p:cNvPr id="100024" name="ColLabel"/>
          <p:cNvSpPr txBox="1"/>
          <p:nvPr/>
        </p:nvSpPr>
        <p:spPr>
          <a:xfrm xmlns:a="http://schemas.openxmlformats.org/drawingml/2006/main">
            <a:off x="540000" y="511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Columns: Invoice ID · Date · Branch · City · Customer Type · Gender · Product · Category · Quantity · Unit Price · Payment · Rating · Sales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5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26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04</a:t>
            </a:r>
          </a:p>
        </p:txBody>
      </p:sp>
      <p:sp>
        <p:nvSpPr>
          <p:cNvPr id="100027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Key Performance Indicators</a:t>
            </a:r>
          </a:p>
        </p:txBody>
      </p:sp>
      <p:sp>
        <p:nvSpPr>
          <p:cNvPr id="100028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Step 4 — Aggregated metrics across all 500 transactions</a:t>
            </a:r>
          </a:p>
        </p:txBody>
      </p:sp>
      <p:sp>
        <p:nvSpPr>
          <p:cNvPr id="100029" name="KPI1"/>
          <p:cNvSpPr txBox="1"/>
          <p:nvPr/>
        </p:nvSpPr>
        <p:spPr>
          <a:xfrm xmlns:a="http://schemas.openxmlformats.org/drawingml/2006/main">
            <a:off x="540000" y="1188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₹2,44,411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Total Revenue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Gross Sales</a:t>
            </a:r>
          </a:p>
        </p:txBody>
      </p:sp>
      <p:sp>
        <p:nvSpPr>
          <p:cNvPr id="100030" name="KPI2"/>
          <p:cNvSpPr txBox="1"/>
          <p:nvPr/>
        </p:nvSpPr>
        <p:spPr>
          <a:xfrm xmlns:a="http://schemas.openxmlformats.org/drawingml/2006/main">
            <a:off x="3240000" y="1188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500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Transactions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Invoices processed</a:t>
            </a:r>
          </a:p>
        </p:txBody>
      </p:sp>
      <p:sp>
        <p:nvSpPr>
          <p:cNvPr id="100031" name="KPI3"/>
          <p:cNvSpPr txBox="1"/>
          <p:nvPr/>
        </p:nvSpPr>
        <p:spPr>
          <a:xfrm xmlns:a="http://schemas.openxmlformats.org/drawingml/2006/main">
            <a:off x="5940000" y="1188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₹488.82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Avg Order Value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Per invoice</a:t>
            </a:r>
          </a:p>
        </p:txBody>
      </p:sp>
      <p:sp>
        <p:nvSpPr>
          <p:cNvPr id="100032" name="KPI4"/>
          <p:cNvSpPr txBox="1"/>
          <p:nvPr/>
        </p:nvSpPr>
        <p:spPr>
          <a:xfrm xmlns:a="http://schemas.openxmlformats.org/drawingml/2006/main">
            <a:off x="8640000" y="1188000"/>
            <a:ext cx="27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3.99 ★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Avg Rating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Out of 5.0</a:t>
            </a:r>
          </a:p>
        </p:txBody>
      </p:sp>
      <p:sp>
        <p:nvSpPr>
          <p:cNvPr id="100033" name="KPI5"/>
          <p:cNvSpPr txBox="1"/>
          <p:nvPr/>
        </p:nvSpPr>
        <p:spPr>
          <a:xfrm xmlns:a="http://schemas.openxmlformats.org/drawingml/2006/main">
            <a:off x="540000" y="2700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2,768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Units Sold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Total quantity</a:t>
            </a:r>
          </a:p>
        </p:txBody>
      </p:sp>
      <p:sp>
        <p:nvSpPr>
          <p:cNvPr id="100034" name="KPI6"/>
          <p:cNvSpPr txBox="1"/>
          <p:nvPr/>
        </p:nvSpPr>
        <p:spPr>
          <a:xfrm xmlns:a="http://schemas.openxmlformats.org/drawingml/2006/main">
            <a:off x="3240000" y="2700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20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Unique Products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Active SKUs</a:t>
            </a:r>
          </a:p>
        </p:txBody>
      </p:sp>
      <p:sp>
        <p:nvSpPr>
          <p:cNvPr id="100035" name="KPI7"/>
          <p:cNvSpPr txBox="1"/>
          <p:nvPr/>
        </p:nvSpPr>
        <p:spPr>
          <a:xfrm xmlns:a="http://schemas.openxmlformats.org/drawingml/2006/main">
            <a:off x="5940000" y="2700000"/>
            <a:ext cx="25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4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Cities Covered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Active branches</a:t>
            </a:r>
          </a:p>
        </p:txBody>
      </p:sp>
      <p:sp>
        <p:nvSpPr>
          <p:cNvPr id="100036" name="KPI8"/>
          <p:cNvSpPr txBox="1"/>
          <p:nvPr/>
        </p:nvSpPr>
        <p:spPr>
          <a:xfrm xmlns:a="http://schemas.openxmlformats.org/drawingml/2006/main">
            <a:off x="8640000" y="2700000"/>
            <a:ext cx="27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8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Categories</a:t>
            </a:r>
          </a:p>
          <a:p xmlns:a="http://schemas.openxmlformats.org/drawingml/2006/main">
            <a:r>
              <a:rPr lang="en-US" sz="2200" b="1">
                <a:solidFill>
                  <a:srgbClr val="1E3A5F"/>
                </a:solidFill>
              </a:rPr>
              <a:t>Product lines</a:t>
            </a:r>
          </a:p>
        </p:txBody>
      </p:sp>
      <p:sp>
        <p:nvSpPr>
          <p:cNvPr id="100037" name="Formula"/>
          <p:cNvSpPr txBox="1"/>
          <p:nvPr/>
        </p:nvSpPr>
        <p:spPr>
          <a:xfrm xmlns:a="http://schemas.openxmlformats.org/drawingml/2006/main">
            <a:off x="540000" y="432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2563EB"/>
                </a:solidFill>
              </a:rPr>
              <a:t>Sales Calculation (Step 3):  Sales = Quantity × Unit Price  →  verified 0 mismatches across all 500 rows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8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39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05</a:t>
            </a:r>
          </a:p>
        </p:txBody>
      </p:sp>
      <p:sp>
        <p:nvSpPr>
          <p:cNvPr id="100040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Sales by Category</a:t>
            </a:r>
          </a:p>
        </p:txBody>
      </p:sp>
      <p:sp>
        <p:nvSpPr>
          <p:cNvPr id="100041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Steps 4 &amp; 5 — Revenue, transactions and ratings ranked by category</a:t>
            </a:r>
          </a:p>
        </p:txBody>
      </p:sp>
      <p:sp>
        <p:nvSpPr>
          <p:cNvPr id="100042" name="Row1"/>
          <p:cNvSpPr txBox="1"/>
          <p:nvPr/>
        </p:nvSpPr>
        <p:spPr>
          <a:xfrm xmlns:a="http://schemas.openxmlformats.org/drawingml/2006/main">
            <a:off x="540000" y="1188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D4ED8"/>
                </a:solidFill>
              </a:rPr>
              <a:t>#1  Beverages       ₹56,108  |  23.0%  |  82 txns  |  Avg Order ₹684  |  Rating 3.96</a:t>
            </a:r>
          </a:p>
        </p:txBody>
      </p:sp>
      <p:sp>
        <p:nvSpPr>
          <p:cNvPr id="100043" name="Row2"/>
          <p:cNvSpPr txBox="1"/>
          <p:nvPr/>
        </p:nvSpPr>
        <p:spPr>
          <a:xfrm xmlns:a="http://schemas.openxmlformats.org/drawingml/2006/main">
            <a:off x="540000" y="1656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#2  Personal Care  ₹45,944  |  18.8%  |  73 txns  |  Avg Order ₹629  |  Rating 3.95</a:t>
            </a:r>
          </a:p>
        </p:txBody>
      </p:sp>
      <p:sp>
        <p:nvSpPr>
          <p:cNvPr id="100044" name="Row3"/>
          <p:cNvSpPr txBox="1"/>
          <p:nvPr/>
        </p:nvSpPr>
        <p:spPr>
          <a:xfrm xmlns:a="http://schemas.openxmlformats.org/drawingml/2006/main">
            <a:off x="540000" y="2124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#3  Dairy              ₹43,992  |  18.0%  |  68 txns  |  Avg Order ₹647  |  Rating 4.03</a:t>
            </a:r>
          </a:p>
        </p:txBody>
      </p:sp>
      <p:sp>
        <p:nvSpPr>
          <p:cNvPr id="100045" name="Row4"/>
          <p:cNvSpPr txBox="1"/>
          <p:nvPr/>
        </p:nvSpPr>
        <p:spPr>
          <a:xfrm xmlns:a="http://schemas.openxmlformats.org/drawingml/2006/main">
            <a:off x="540000" y="2592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#4  Grocery          ₹40,470  |  16.6%  |  82 txns  |  Avg Order ₹494  |  Rating 3.94</a:t>
            </a:r>
          </a:p>
        </p:txBody>
      </p:sp>
      <p:sp>
        <p:nvSpPr>
          <p:cNvPr id="100046" name="Row5"/>
          <p:cNvSpPr txBox="1"/>
          <p:nvPr/>
        </p:nvSpPr>
        <p:spPr>
          <a:xfrm xmlns:a="http://schemas.openxmlformats.org/drawingml/2006/main">
            <a:off x="540000" y="3060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#5  Fruits             ₹23,263  |    9.5%  |  44 txns  |  Avg Order ₹529  |  Rating 3.83</a:t>
            </a:r>
          </a:p>
        </p:txBody>
      </p:sp>
      <p:sp>
        <p:nvSpPr>
          <p:cNvPr id="100047" name="Row6"/>
          <p:cNvSpPr txBox="1"/>
          <p:nvPr/>
        </p:nvSpPr>
        <p:spPr>
          <a:xfrm xmlns:a="http://schemas.openxmlformats.org/drawingml/2006/main">
            <a:off x="540000" y="3528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#6  Snacks           ₹16,993  |    7.0%  |  75 txns  |  Avg Order ₹227  |  Rating 4.11</a:t>
            </a:r>
          </a:p>
        </p:txBody>
      </p:sp>
      <p:sp>
        <p:nvSpPr>
          <p:cNvPr id="100048" name="Row7"/>
          <p:cNvSpPr txBox="1"/>
          <p:nvPr/>
        </p:nvSpPr>
        <p:spPr>
          <a:xfrm xmlns:a="http://schemas.openxmlformats.org/drawingml/2006/main">
            <a:off x="540000" y="3996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#7  Vegetables     ₹11,124  |    4.6%  |  48 txns  |  Avg Order ₹232  |  Rating 3.99</a:t>
            </a:r>
          </a:p>
        </p:txBody>
      </p:sp>
      <p:sp>
        <p:nvSpPr>
          <p:cNvPr id="100049" name="Row8"/>
          <p:cNvSpPr txBox="1"/>
          <p:nvPr/>
        </p:nvSpPr>
        <p:spPr>
          <a:xfrm xmlns:a="http://schemas.openxmlformats.org/drawingml/2006/main">
            <a:off x="540000" y="4464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2400E"/>
                </a:solidFill>
              </a:rPr>
              <a:t>#8  Bakery            ₹6,516    |    2.7%  |  28 txns  |  Avg Order ₹233  |  Rating 4.24 ★ Highest</a:t>
            </a:r>
          </a:p>
        </p:txBody>
      </p:sp>
      <p:sp>
        <p:nvSpPr>
          <p:cNvPr id="100050" name="Insight"/>
          <p:cNvSpPr txBox="1"/>
          <p:nvPr/>
        </p:nvSpPr>
        <p:spPr>
          <a:xfrm xmlns:a="http://schemas.openxmlformats.org/drawingml/2006/main">
            <a:off x="540000" y="5112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Key Insight: Top 4 categories (Beverages, Personal Care, Dairy, Grocery) account for 76.3% of all revenue. Bakery has the highest rating (4.24) but lowest revenue — high satisfaction, low volume.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1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52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06</a:t>
            </a:r>
          </a:p>
        </p:txBody>
      </p:sp>
      <p:sp>
        <p:nvSpPr>
          <p:cNvPr id="100053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Branch &amp; City Performance</a:t>
            </a:r>
          </a:p>
        </p:txBody>
      </p:sp>
      <p:sp>
        <p:nvSpPr>
          <p:cNvPr id="100054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Revenue, transactions, and satisfaction by location</a:t>
            </a:r>
          </a:p>
        </p:txBody>
      </p:sp>
      <p:sp>
        <p:nvSpPr>
          <p:cNvPr id="100055" name="B1Title"/>
          <p:cNvSpPr txBox="1"/>
          <p:nvPr/>
        </p:nvSpPr>
        <p:spPr>
          <a:xfrm xmlns:a="http://schemas.openxmlformats.org/drawingml/2006/main">
            <a:off x="540000" y="1152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#1  Mumbai — Branch C</a:t>
            </a:r>
          </a:p>
        </p:txBody>
      </p:sp>
      <p:sp>
        <p:nvSpPr>
          <p:cNvPr id="100056" name="B1Body"/>
          <p:cNvSpPr txBox="1"/>
          <p:nvPr/>
        </p:nvSpPr>
        <p:spPr>
          <a:xfrm xmlns:a="http://schemas.openxmlformats.org/drawingml/2006/main">
            <a:off x="540000" y="1476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Revenue:          ₹72,469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Transactions:   143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Avg Order:        ₹506.78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Avg Rating:       4.05</a:t>
            </a:r>
          </a:p>
        </p:txBody>
      </p:sp>
      <p:sp>
        <p:nvSpPr>
          <p:cNvPr id="100057" name="B2Title"/>
          <p:cNvSpPr txBox="1"/>
          <p:nvPr/>
        </p:nvSpPr>
        <p:spPr>
          <a:xfrm xmlns:a="http://schemas.openxmlformats.org/drawingml/2006/main">
            <a:off x="6120000" y="1152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#2  Delhi — Branch B</a:t>
            </a:r>
          </a:p>
        </p:txBody>
      </p:sp>
      <p:sp>
        <p:nvSpPr>
          <p:cNvPr id="100058" name="B2Body"/>
          <p:cNvSpPr txBox="1"/>
          <p:nvPr/>
        </p:nvSpPr>
        <p:spPr>
          <a:xfrm xmlns:a="http://schemas.openxmlformats.org/drawingml/2006/main">
            <a:off x="6120000" y="1476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Revenue:          ₹64,116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Transactions:   133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Avg Order:        ₹482.08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Avg Rating:       3.98</a:t>
            </a:r>
          </a:p>
        </p:txBody>
      </p:sp>
      <p:sp>
        <p:nvSpPr>
          <p:cNvPr id="100059" name="B3Title"/>
          <p:cNvSpPr txBox="1"/>
          <p:nvPr/>
        </p:nvSpPr>
        <p:spPr>
          <a:xfrm xmlns:a="http://schemas.openxmlformats.org/drawingml/2006/main">
            <a:off x="540000" y="3168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#3  Bengaluru — Branch D</a:t>
            </a:r>
          </a:p>
        </p:txBody>
      </p:sp>
      <p:sp>
        <p:nvSpPr>
          <p:cNvPr id="100060" name="B3Body"/>
          <p:cNvSpPr txBox="1"/>
          <p:nvPr/>
        </p:nvSpPr>
        <p:spPr>
          <a:xfrm xmlns:a="http://schemas.openxmlformats.org/drawingml/2006/main">
            <a:off x="540000" y="3492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Revenue:          ₹55,468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Transactions:   119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Avg Order:        ₹466.12</a:t>
            </a:r>
          </a:p>
          <a:p xmlns:a="http://schemas.openxmlformats.org/drawingml/2006/main">
            <a:r>
              <a:rPr lang="en-US" sz="1500">
                <a:solidFill>
                  <a:srgbClr val="1E3A5F"/>
                </a:solidFill>
              </a:rPr>
              <a:t>Avg Rating:       4.09  ★ Highest</a:t>
            </a:r>
          </a:p>
        </p:txBody>
      </p:sp>
      <p:sp>
        <p:nvSpPr>
          <p:cNvPr id="100061" name="B4Title"/>
          <p:cNvSpPr txBox="1"/>
          <p:nvPr/>
        </p:nvSpPr>
        <p:spPr>
          <a:xfrm xmlns:a="http://schemas.openxmlformats.org/drawingml/2006/main">
            <a:off x="6120000" y="3168000"/>
            <a:ext cx="52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#4  Jaipur — Branch A</a:t>
            </a:r>
          </a:p>
        </p:txBody>
      </p:sp>
      <p:sp>
        <p:nvSpPr>
          <p:cNvPr id="100062" name="B4Body"/>
          <p:cNvSpPr txBox="1"/>
          <p:nvPr/>
        </p:nvSpPr>
        <p:spPr>
          <a:xfrm xmlns:a="http://schemas.openxmlformats.org/drawingml/2006/main">
            <a:off x="6120000" y="3492000"/>
            <a:ext cx="52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Revenue:          ₹52,357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Transactions:   105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Avg Order:        ₹498.64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Avg Rating:       3.84  ⚠ Lowest</a:t>
            </a:r>
          </a:p>
        </p:txBody>
      </p:sp>
      <p:sp>
        <p:nvSpPr>
          <p:cNvPr id="100063" name="Insight"/>
          <p:cNvSpPr txBox="1"/>
          <p:nvPr/>
        </p:nvSpPr>
        <p:spPr>
          <a:xfrm xmlns:a="http://schemas.openxmlformats.org/drawingml/2006/main">
            <a:off x="540000" y="5220000"/>
            <a:ext cx="1080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Key Insight: Mumbai leads in revenue &amp; volume. Bengaluru has the best satisfaction score (4.09). Jaipur has the fewest transactions and lowest rating (3.84) — priority for improvement.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4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65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07</a:t>
            </a:r>
          </a:p>
        </p:txBody>
      </p:sp>
      <p:sp>
        <p:nvSpPr>
          <p:cNvPr id="100066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Customer Segmentation</a:t>
            </a:r>
          </a:p>
        </p:txBody>
      </p:sp>
      <p:sp>
        <p:nvSpPr>
          <p:cNvPr id="100067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Member vs Normal customers · Gender split · Avg order comparison</a:t>
            </a:r>
          </a:p>
        </p:txBody>
      </p:sp>
      <p:sp>
        <p:nvSpPr>
          <p:cNvPr id="100068" name="CustTitle"/>
          <p:cNvSpPr txBox="1"/>
          <p:nvPr/>
        </p:nvSpPr>
        <p:spPr>
          <a:xfrm xmlns:a="http://schemas.openxmlformats.org/drawingml/2006/main">
            <a:off x="540000" y="1152000"/>
            <a:ext cx="52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Customer Type Breakdown</a:t>
            </a:r>
          </a:p>
        </p:txBody>
      </p:sp>
      <p:sp>
        <p:nvSpPr>
          <p:cNvPr id="100069" name="MemberCard"/>
          <p:cNvSpPr txBox="1"/>
          <p:nvPr/>
        </p:nvSpPr>
        <p:spPr>
          <a:xfrm xmlns:a="http://schemas.openxmlformats.org/drawingml/2006/main">
            <a:off x="540000" y="1476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MEMBER</a:t>
            </a:r>
          </a:p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₹1,43,009</a:t>
            </a:r>
          </a:p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58.5% of revenue</a:t>
            </a:r>
          </a:p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296 transactions</a:t>
            </a:r>
          </a:p>
          <a:p xmlns:a="http://schemas.openxmlformats.org/drawingml/2006/main">
            <a:r>
              <a:rPr lang="en-US" sz="1400" b="0">
                <a:solidFill>
                  <a:srgbClr val="1D4ED8"/>
                </a:solidFill>
              </a:rPr>
              <a:t>Avg Order: ₹483.14</a:t>
            </a:r>
          </a:p>
        </p:txBody>
      </p:sp>
      <p:sp>
        <p:nvSpPr>
          <p:cNvPr id="100070" name="NormalCard"/>
          <p:cNvSpPr txBox="1"/>
          <p:nvPr/>
        </p:nvSpPr>
        <p:spPr>
          <a:xfrm xmlns:a="http://schemas.openxmlformats.org/drawingml/2006/main">
            <a:off x="3312000" y="1476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92400E"/>
                </a:solidFill>
              </a:rPr>
              <a:t>NORMAL</a:t>
            </a:r>
          </a:p>
          <a:p xmlns:a="http://schemas.openxmlformats.org/drawingml/2006/main">
            <a:r>
              <a:rPr lang="en-US" sz="1400">
                <a:solidFill>
                  <a:srgbClr val="92400E"/>
                </a:solidFill>
              </a:rPr>
              <a:t>₹1,01,402</a:t>
            </a:r>
          </a:p>
          <a:p xmlns:a="http://schemas.openxmlformats.org/drawingml/2006/main">
            <a:r>
              <a:rPr lang="en-US" sz="1400">
                <a:solidFill>
                  <a:srgbClr val="92400E"/>
                </a:solidFill>
              </a:rPr>
              <a:t>41.5% of revenue</a:t>
            </a:r>
          </a:p>
          <a:p xmlns:a="http://schemas.openxmlformats.org/drawingml/2006/main">
            <a:r>
              <a:rPr lang="en-US" sz="1400">
                <a:solidFill>
                  <a:srgbClr val="92400E"/>
                </a:solidFill>
              </a:rPr>
              <a:t>204 transactions</a:t>
            </a:r>
          </a:p>
          <a:p xmlns:a="http://schemas.openxmlformats.org/drawingml/2006/main">
            <a:r>
              <a:rPr lang="en-US" sz="1400">
                <a:solidFill>
                  <a:srgbClr val="92400E"/>
                </a:solidFill>
              </a:rPr>
              <a:t>Avg Order: ₹497.07</a:t>
            </a:r>
          </a:p>
        </p:txBody>
      </p:sp>
      <p:sp>
        <p:nvSpPr>
          <p:cNvPr id="100071" name="GenderTitle"/>
          <p:cNvSpPr txBox="1"/>
          <p:nvPr/>
        </p:nvSpPr>
        <p:spPr>
          <a:xfrm xmlns:a="http://schemas.openxmlformats.org/drawingml/2006/main">
            <a:off x="6120000" y="1152000"/>
            <a:ext cx="52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E3A5F"/>
                </a:solidFill>
              </a:rPr>
              <a:t>Gender Breakdown</a:t>
            </a:r>
          </a:p>
        </p:txBody>
      </p:sp>
      <p:sp>
        <p:nvSpPr>
          <p:cNvPr id="100072" name="FemaleCard"/>
          <p:cNvSpPr txBox="1"/>
          <p:nvPr/>
        </p:nvSpPr>
        <p:spPr>
          <a:xfrm xmlns:a="http://schemas.openxmlformats.org/drawingml/2006/main">
            <a:off x="6120000" y="1476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6D28D9"/>
                </a:solidFill>
              </a:rPr>
              <a:t>FEMALE</a:t>
            </a:r>
          </a:p>
          <a:p xmlns:a="http://schemas.openxmlformats.org/drawingml/2006/main">
            <a:r>
              <a:rPr lang="en-US" sz="1400">
                <a:solidFill>
                  <a:srgbClr val="6D28D9"/>
                </a:solidFill>
              </a:rPr>
              <a:t>₹1,23,954</a:t>
            </a:r>
          </a:p>
          <a:p xmlns:a="http://schemas.openxmlformats.org/drawingml/2006/main">
            <a:r>
              <a:rPr lang="en-US" sz="1400">
                <a:solidFill>
                  <a:srgbClr val="6D28D9"/>
                </a:solidFill>
              </a:rPr>
              <a:t>50.7% of revenue</a:t>
            </a:r>
          </a:p>
          <a:p xmlns:a="http://schemas.openxmlformats.org/drawingml/2006/main">
            <a:r>
              <a:rPr lang="en-US" sz="1400">
                <a:solidFill>
                  <a:srgbClr val="6D28D9"/>
                </a:solidFill>
              </a:rPr>
              <a:t>255 transactions</a:t>
            </a:r>
          </a:p>
          <a:p xmlns:a="http://schemas.openxmlformats.org/drawingml/2006/main">
            <a:r>
              <a:rPr lang="en-US" sz="1400">
                <a:solidFill>
                  <a:srgbClr val="6D28D9"/>
                </a:solidFill>
              </a:rPr>
              <a:t>Avg Order: ₹486.09</a:t>
            </a:r>
          </a:p>
        </p:txBody>
      </p:sp>
      <p:sp>
        <p:nvSpPr>
          <p:cNvPr id="100073" name="MaleCard"/>
          <p:cNvSpPr txBox="1"/>
          <p:nvPr/>
        </p:nvSpPr>
        <p:spPr>
          <a:xfrm xmlns:a="http://schemas.openxmlformats.org/drawingml/2006/main">
            <a:off x="8892000" y="1476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D4ED8"/>
                </a:solidFill>
              </a:rPr>
              <a:t>MALE</a:t>
            </a:r>
          </a:p>
          <a:p xmlns:a="http://schemas.openxmlformats.org/drawingml/2006/main">
            <a:r>
              <a:rPr lang="en-US" sz="1400">
                <a:solidFill>
                  <a:srgbClr val="1D4ED8"/>
                </a:solidFill>
              </a:rPr>
              <a:t>₹1,20,457</a:t>
            </a:r>
          </a:p>
          <a:p xmlns:a="http://schemas.openxmlformats.org/drawingml/2006/main">
            <a:r>
              <a:rPr lang="en-US" sz="1400">
                <a:solidFill>
                  <a:srgbClr val="1D4ED8"/>
                </a:solidFill>
              </a:rPr>
              <a:t>49.3% of revenue</a:t>
            </a:r>
          </a:p>
          <a:p xmlns:a="http://schemas.openxmlformats.org/drawingml/2006/main">
            <a:r>
              <a:rPr lang="en-US" sz="1400">
                <a:solidFill>
                  <a:srgbClr val="1D4ED8"/>
                </a:solidFill>
              </a:rPr>
              <a:t>245 transactions</a:t>
            </a:r>
          </a:p>
          <a:p xmlns:a="http://schemas.openxmlformats.org/drawingml/2006/main">
            <a:r>
              <a:rPr lang="en-US" sz="1400">
                <a:solidFill>
                  <a:srgbClr val="1D4ED8"/>
                </a:solidFill>
              </a:rPr>
              <a:t>Avg Order: ₹491.66</a:t>
            </a:r>
          </a:p>
        </p:txBody>
      </p:sp>
      <p:sp>
        <p:nvSpPr>
          <p:cNvPr id="100074" name="Obs1"/>
          <p:cNvSpPr txBox="1"/>
          <p:nvPr/>
        </p:nvSpPr>
        <p:spPr>
          <a:xfrm xmlns:a="http://schemas.openxmlformats.org/drawingml/2006/main">
            <a:off x="540000" y="3708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151"/>
                </a:solidFill>
              </a:rPr>
              <a:t>Members drive 58.5% of revenue through volume (296 txns), but Normal customers spend ₹13.93 MORE per order. Membership benefits may need restructuring to grow basket size.</a:t>
            </a:r>
          </a:p>
        </p:txBody>
      </p:sp>
      <p:sp>
        <p:nvSpPr>
          <p:cNvPr id="100075" name="Obs2"/>
          <p:cNvSpPr txBox="1"/>
          <p:nvPr/>
        </p:nvSpPr>
        <p:spPr>
          <a:xfrm xmlns:a="http://schemas.openxmlformats.org/drawingml/2006/main">
            <a:off x="6120000" y="3708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151"/>
                </a:solidFill>
              </a:rPr>
              <a:t>Gender split is near-equal (50.7% / 49.3%), showing the store appeals equally to all demographics — a sign of broad product range and no demographic blind spots.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6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77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08</a:t>
            </a:r>
          </a:p>
        </p:txBody>
      </p:sp>
      <p:sp>
        <p:nvSpPr>
          <p:cNvPr id="100078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Payment Method Analysis</a:t>
            </a:r>
          </a:p>
        </p:txBody>
      </p:sp>
      <p:sp>
        <p:nvSpPr>
          <p:cNvPr id="100079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Revenue, share, and average order by payment type</a:t>
            </a:r>
          </a:p>
        </p:txBody>
      </p:sp>
      <p:sp>
        <p:nvSpPr>
          <p:cNvPr id="100080" name="P1"/>
          <p:cNvSpPr txBox="1"/>
          <p:nvPr/>
        </p:nvSpPr>
        <p:spPr>
          <a:xfrm xmlns:a="http://schemas.openxmlformats.org/drawingml/2006/main">
            <a:off x="540000" y="1152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D4ED8"/>
                </a:solidFill>
              </a:rPr>
              <a:t>UPI</a:t>
            </a:r>
          </a:p>
          <a:p xmlns:a="http://schemas.openxmlformats.org/drawingml/2006/main">
            <a:r>
              <a:rPr lang="en-US" sz="1500" b="0">
                <a:solidFill>
                  <a:srgbClr val="1D4ED8"/>
                </a:solidFill>
              </a:rPr>
              <a:t>₹67,910  |  27.8%</a:t>
            </a:r>
          </a:p>
          <a:p xmlns:a="http://schemas.openxmlformats.org/drawingml/2006/main">
            <a:r>
              <a:rPr lang="en-US" sz="1500" b="0">
                <a:solidFill>
                  <a:srgbClr val="1D4ED8"/>
                </a:solidFill>
              </a:rPr>
              <a:t>127 txns</a:t>
            </a:r>
          </a:p>
          <a:p xmlns:a="http://schemas.openxmlformats.org/drawingml/2006/main">
            <a:r>
              <a:rPr lang="en-US" sz="1500" b="0">
                <a:solidFill>
                  <a:srgbClr val="1D4ED8"/>
                </a:solidFill>
              </a:rPr>
              <a:t>Avg Order: ₹534.73</a:t>
            </a:r>
          </a:p>
          <a:p xmlns:a="http://schemas.openxmlformats.org/drawingml/2006/main">
            <a:r>
              <a:rPr lang="en-US" sz="1500" b="0">
                <a:solidFill>
                  <a:srgbClr val="1D4ED8"/>
                </a:solidFill>
              </a:rPr>
              <a:t>★ Highest Avg Order</a:t>
            </a:r>
          </a:p>
        </p:txBody>
      </p:sp>
      <p:sp>
        <p:nvSpPr>
          <p:cNvPr id="100081" name="P2"/>
          <p:cNvSpPr txBox="1"/>
          <p:nvPr/>
        </p:nvSpPr>
        <p:spPr>
          <a:xfrm xmlns:a="http://schemas.openxmlformats.org/drawingml/2006/main">
            <a:off x="3348000" y="1152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66534"/>
                </a:solidFill>
              </a:rPr>
              <a:t>Net Banking</a:t>
            </a:r>
          </a:p>
          <a:p xmlns:a="http://schemas.openxmlformats.org/drawingml/2006/main">
            <a:r>
              <a:rPr lang="en-US" sz="1500">
                <a:solidFill>
                  <a:srgbClr val="166534"/>
                </a:solidFill>
              </a:rPr>
              <a:t>₹65,195  |  26.7%</a:t>
            </a:r>
          </a:p>
          <a:p xmlns:a="http://schemas.openxmlformats.org/drawingml/2006/main">
            <a:r>
              <a:rPr lang="en-US" sz="1500">
                <a:solidFill>
                  <a:srgbClr val="166534"/>
                </a:solidFill>
              </a:rPr>
              <a:t>126 txns</a:t>
            </a:r>
          </a:p>
          <a:p xmlns:a="http://schemas.openxmlformats.org/drawingml/2006/main">
            <a:r>
              <a:rPr lang="en-US" sz="1500">
                <a:solidFill>
                  <a:srgbClr val="166534"/>
                </a:solidFill>
              </a:rPr>
              <a:t>Avg Order: ₹517.42</a:t>
            </a:r>
          </a:p>
        </p:txBody>
      </p:sp>
      <p:sp>
        <p:nvSpPr>
          <p:cNvPr id="100082" name="P3"/>
          <p:cNvSpPr txBox="1"/>
          <p:nvPr/>
        </p:nvSpPr>
        <p:spPr>
          <a:xfrm xmlns:a="http://schemas.openxmlformats.org/drawingml/2006/main">
            <a:off x="6156000" y="1152000"/>
            <a:ext cx="25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6D28D9"/>
                </a:solidFill>
              </a:rPr>
              <a:t>Card</a:t>
            </a:r>
          </a:p>
          <a:p xmlns:a="http://schemas.openxmlformats.org/drawingml/2006/main">
            <a:r>
              <a:rPr lang="en-US" sz="1500">
                <a:solidFill>
                  <a:srgbClr val="6D28D9"/>
                </a:solidFill>
              </a:rPr>
              <a:t>₹57,266  |  23.4%</a:t>
            </a:r>
          </a:p>
          <a:p xmlns:a="http://schemas.openxmlformats.org/drawingml/2006/main">
            <a:r>
              <a:rPr lang="en-US" sz="1500">
                <a:solidFill>
                  <a:srgbClr val="6D28D9"/>
                </a:solidFill>
              </a:rPr>
              <a:t>125 txns</a:t>
            </a:r>
          </a:p>
          <a:p xmlns:a="http://schemas.openxmlformats.org/drawingml/2006/main">
            <a:r>
              <a:rPr lang="en-US" sz="1500">
                <a:solidFill>
                  <a:srgbClr val="6D28D9"/>
                </a:solidFill>
              </a:rPr>
              <a:t>Avg Order: ₹458.13</a:t>
            </a:r>
          </a:p>
        </p:txBody>
      </p:sp>
      <p:sp>
        <p:nvSpPr>
          <p:cNvPr id="100083" name="P4"/>
          <p:cNvSpPr txBox="1"/>
          <p:nvPr/>
        </p:nvSpPr>
        <p:spPr>
          <a:xfrm xmlns:a="http://schemas.openxmlformats.org/drawingml/2006/main">
            <a:off x="8964000" y="1152000"/>
            <a:ext cx="2376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Cash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₹54,040  |  22.1%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122 txns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Avg Order: ₹442.95</a:t>
            </a:r>
          </a:p>
          <a:p xmlns:a="http://schemas.openxmlformats.org/drawingml/2006/main">
            <a:r>
              <a:rPr lang="en-US" sz="1500">
                <a:solidFill>
                  <a:srgbClr val="92400E"/>
                </a:solidFill>
              </a:rPr>
              <a:t>⚠ Lowest Avg Order</a:t>
            </a:r>
          </a:p>
        </p:txBody>
      </p:sp>
      <p:sp>
        <p:nvSpPr>
          <p:cNvPr id="100084" name="DigitalBar"/>
          <p:cNvSpPr txBox="1"/>
          <p:nvPr/>
        </p:nvSpPr>
        <p:spPr>
          <a:xfrm xmlns:a="http://schemas.openxmlformats.org/drawingml/2006/main">
            <a:off x="540000" y="360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D4ED8"/>
                </a:solidFill>
              </a:rPr>
              <a:t>Digital Payments (UPI + Net Banking + Card) = 77.9% of total revenue</a:t>
            </a:r>
          </a:p>
        </p:txBody>
      </p:sp>
      <p:sp>
        <p:nvSpPr>
          <p:cNvPr id="100085" name="Obs"/>
          <p:cNvSpPr txBox="1"/>
          <p:nvPr/>
        </p:nvSpPr>
        <p:spPr>
          <a:xfrm xmlns:a="http://schemas.openxmlformats.org/drawingml/2006/main">
            <a:off x="540000" y="414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Payment distribution is balanced — no single method dominates. This reflects a tech-savvy, digitally-enabled customer base. UPI users spend the most per transaction on average, suggesting they make bigger basket purchases.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6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087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09</a:t>
            </a:r>
          </a:p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Monthly Revenue Trend</a:t>
            </a:r>
          </a:p>
        </p:txBody>
      </p:sp>
      <p:sp>
        <p:nvSpPr>
          <p:cNvPr id="100089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Revenue, transaction count, and avg order by month (Jan – Jul 2026)</a:t>
            </a:r>
          </a:p>
        </p:txBody>
      </p:sp>
      <p:sp>
        <p:nvSpPr>
          <p:cNvPr id="100090" name="Jan"/>
          <p:cNvSpPr txBox="1"/>
          <p:nvPr/>
        </p:nvSpPr>
        <p:spPr>
          <a:xfrm xmlns:a="http://schemas.openxmlformats.org/drawingml/2006/main">
            <a:off x="540000" y="1188000"/>
            <a:ext cx="144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January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₹43,416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88 txns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Avg ₹493</a:t>
            </a:r>
          </a:p>
        </p:txBody>
      </p:sp>
      <p:sp>
        <p:nvSpPr>
          <p:cNvPr id="100091" name="Feb"/>
          <p:cNvSpPr txBox="1"/>
          <p:nvPr/>
        </p:nvSpPr>
        <p:spPr>
          <a:xfrm xmlns:a="http://schemas.openxmlformats.org/drawingml/2006/main">
            <a:off x="2088000" y="2052000"/>
            <a:ext cx="1440000" cy="18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2400E"/>
                </a:solidFill>
              </a:rPr>
              <a:t>February</a:t>
            </a:r>
          </a:p>
          <a:p xmlns:a="http://schemas.openxmlformats.org/drawingml/2006/main">
            <a:r>
              <a:rPr lang="en-US" sz="1200">
                <a:solidFill>
                  <a:srgbClr val="92400E"/>
                </a:solidFill>
              </a:rPr>
              <a:t>₹30,068</a:t>
            </a:r>
          </a:p>
          <a:p xmlns:a="http://schemas.openxmlformats.org/drawingml/2006/main">
            <a:r>
              <a:rPr lang="en-US" sz="1200">
                <a:solidFill>
                  <a:srgbClr val="92400E"/>
                </a:solidFill>
              </a:rPr>
              <a:t>65 txns</a:t>
            </a:r>
          </a:p>
          <a:p xmlns:a="http://schemas.openxmlformats.org/drawingml/2006/main">
            <a:r>
              <a:rPr lang="en-US" sz="1200">
                <a:solidFill>
                  <a:srgbClr val="92400E"/>
                </a:solidFill>
              </a:rPr>
              <a:t>Avg ₹463</a:t>
            </a:r>
          </a:p>
          <a:p xmlns:a="http://schemas.openxmlformats.org/drawingml/2006/main">
            <a:r>
              <a:rPr lang="en-US" sz="1200">
                <a:solidFill>
                  <a:srgbClr val="92400E"/>
                </a:solidFill>
              </a:rPr>
              <a:t>⚠ Lowest</a:t>
            </a:r>
          </a:p>
        </p:txBody>
      </p:sp>
      <p:sp>
        <p:nvSpPr>
          <p:cNvPr id="100092" name="Mar"/>
          <p:cNvSpPr txBox="1"/>
          <p:nvPr/>
        </p:nvSpPr>
        <p:spPr>
          <a:xfrm xmlns:a="http://schemas.openxmlformats.org/drawingml/2006/main">
            <a:off x="3636000" y="1656000"/>
            <a:ext cx="1440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March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₹37,306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83 txns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Avg ₹449</a:t>
            </a:r>
          </a:p>
        </p:txBody>
      </p:sp>
      <p:sp>
        <p:nvSpPr>
          <p:cNvPr id="100093" name="Apr"/>
          <p:cNvSpPr txBox="1"/>
          <p:nvPr/>
        </p:nvSpPr>
        <p:spPr>
          <a:xfrm xmlns:a="http://schemas.openxmlformats.org/drawingml/2006/main">
            <a:off x="5184000" y="1188000"/>
            <a:ext cx="144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April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₹52,570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90 txns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Avg ₹584</a:t>
            </a:r>
          </a:p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★ PEAK</a:t>
            </a:r>
          </a:p>
        </p:txBody>
      </p:sp>
      <p:sp>
        <p:nvSpPr>
          <p:cNvPr id="100094" name="May"/>
          <p:cNvSpPr txBox="1"/>
          <p:nvPr/>
        </p:nvSpPr>
        <p:spPr>
          <a:xfrm xmlns:a="http://schemas.openxmlformats.org/drawingml/2006/main">
            <a:off x="6732000" y="1368000"/>
            <a:ext cx="14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May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₹42,542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85 txns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Avg ₹500</a:t>
            </a:r>
          </a:p>
        </p:txBody>
      </p:sp>
      <p:sp>
        <p:nvSpPr>
          <p:cNvPr id="100095" name="Jun"/>
          <p:cNvSpPr txBox="1"/>
          <p:nvPr/>
        </p:nvSpPr>
        <p:spPr>
          <a:xfrm xmlns:a="http://schemas.openxmlformats.org/drawingml/2006/main">
            <a:off x="8280000" y="1800000"/>
            <a:ext cx="1440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June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₹35,041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82 txns</a:t>
            </a:r>
          </a:p>
          <a:p xmlns:a="http://schemas.openxmlformats.org/drawingml/2006/main">
            <a:r>
              <a:rPr lang="en-US" sz="1200">
                <a:solidFill>
                  <a:srgbClr val="1E3A5F"/>
                </a:solidFill>
              </a:rPr>
              <a:t>Avg ₹427</a:t>
            </a:r>
          </a:p>
        </p:txBody>
      </p:sp>
      <p:sp>
        <p:nvSpPr>
          <p:cNvPr id="100096" name="Jul"/>
          <p:cNvSpPr txBox="1"/>
          <p:nvPr/>
        </p:nvSpPr>
        <p:spPr>
          <a:xfrm xmlns:a="http://schemas.openxmlformats.org/drawingml/2006/main">
            <a:off x="9828000" y="3420000"/>
            <a:ext cx="144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Jul*</a:t>
            </a:r>
          </a:p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₹3,467</a:t>
            </a:r>
          </a:p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7 txns</a:t>
            </a:r>
          </a:p>
        </p:txBody>
      </p:sp>
      <p:sp>
        <p:nvSpPr>
          <p:cNvPr id="100097" name="Note"/>
          <p:cNvSpPr txBox="1"/>
          <p:nvPr/>
        </p:nvSpPr>
        <p:spPr>
          <a:xfrm xmlns:a="http://schemas.openxmlformats.org/drawingml/2006/main">
            <a:off x="540000" y="4140000"/>
            <a:ext cx="54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9CA3AF"/>
                </a:solidFill>
              </a:rPr>
              <a:t>* July = 1 day of data only (Jul 1, 2026)</a:t>
            </a:r>
          </a:p>
        </p:txBody>
      </p:sp>
      <p:sp>
        <p:nvSpPr>
          <p:cNvPr id="100098" name="Insight"/>
          <p:cNvSpPr txBox="1"/>
          <p:nvPr/>
        </p:nvSpPr>
        <p:spPr>
          <a:xfrm xmlns:a="http://schemas.openxmlformats.org/drawingml/2006/main">
            <a:off x="540000" y="4680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Key Insight: April is the peak month — highest revenue (₹52,570), most transactions (90), AND highest avg order (₹584.11). February is the weakest full month. Clear Q2 upswing — plan inventory and campaigns accordingly.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9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100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10</a:t>
            </a:r>
          </a:p>
        </p:txBody>
      </p:sp>
      <p:sp>
        <p:nvSpPr>
          <p:cNvPr id="100101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Top 5 Products by Revenue</a:t>
            </a:r>
          </a:p>
        </p:txBody>
      </p:sp>
      <p:sp>
        <p:nvSpPr>
          <p:cNvPr id="100102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Ranked by total sales — Step 4 &amp; 5</a:t>
            </a:r>
          </a:p>
        </p:txBody>
      </p:sp>
      <p:sp>
        <p:nvSpPr>
          <p:cNvPr id="100103" name="Header"/>
          <p:cNvSpPr txBox="1"/>
          <p:nvPr/>
        </p:nvSpPr>
        <p:spPr>
          <a:xfrm xmlns:a="http://schemas.openxmlformats.org/drawingml/2006/main">
            <a:off x="540000" y="1152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Rank   Product          Category           Revenue        Txns   Units   Avg Rating</a:t>
            </a:r>
          </a:p>
        </p:txBody>
      </p:sp>
      <p:sp>
        <p:nvSpPr>
          <p:cNvPr id="100104" name="R1"/>
          <p:cNvSpPr txBox="1"/>
          <p:nvPr/>
        </p:nvSpPr>
        <p:spPr>
          <a:xfrm xmlns:a="http://schemas.openxmlformats.org/drawingml/2006/main">
            <a:off x="540000" y="1512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D4ED8"/>
                </a:solidFill>
              </a:rPr>
              <a:t>  1      Cheese            Dairy                   ₹27,906       26      126         3.98</a:t>
            </a:r>
          </a:p>
        </p:txBody>
      </p:sp>
      <p:sp>
        <p:nvSpPr>
          <p:cNvPr id="100105" name="R2"/>
          <p:cNvSpPr txBox="1"/>
          <p:nvPr/>
        </p:nvSpPr>
        <p:spPr>
          <a:xfrm xmlns:a="http://schemas.openxmlformats.org/drawingml/2006/main">
            <a:off x="540000" y="1944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  2      Coffee             Beverages          ₹27,695       24      153         3.86</a:t>
            </a:r>
          </a:p>
        </p:txBody>
      </p:sp>
      <p:sp>
        <p:nvSpPr>
          <p:cNvPr id="100106" name="R3"/>
          <p:cNvSpPr txBox="1"/>
          <p:nvPr/>
        </p:nvSpPr>
        <p:spPr>
          <a:xfrm xmlns:a="http://schemas.openxmlformats.org/drawingml/2006/main">
            <a:off x="540000" y="2376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  3      Shampoo         Personal Care    ₹27,497       27      152         3.92</a:t>
            </a:r>
          </a:p>
        </p:txBody>
      </p:sp>
      <p:sp>
        <p:nvSpPr>
          <p:cNvPr id="100107" name="R4"/>
          <p:cNvSpPr txBox="1"/>
          <p:nvPr/>
        </p:nvSpPr>
        <p:spPr>
          <a:xfrm xmlns:a="http://schemas.openxmlformats.org/drawingml/2006/main">
            <a:off x="540000" y="2808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  4      Cooking Oil    Grocery               ₹21,525       26      142         3.97</a:t>
            </a:r>
          </a:p>
        </p:txBody>
      </p:sp>
      <p:sp>
        <p:nvSpPr>
          <p:cNvPr id="100108" name="R5"/>
          <p:cNvSpPr txBox="1"/>
          <p:nvPr/>
        </p:nvSpPr>
        <p:spPr>
          <a:xfrm xmlns:a="http://schemas.openxmlformats.org/drawingml/2006/main">
            <a:off x="540000" y="3240000"/>
            <a:ext cx="1080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74151"/>
                </a:solidFill>
              </a:rPr>
              <a:t>  5      Tea                 Beverages          ₹17,682       29      146         4.02</a:t>
            </a:r>
          </a:p>
        </p:txBody>
      </p:sp>
      <p:sp>
        <p:nvSpPr>
          <p:cNvPr id="100109" name="O1"/>
          <p:cNvSpPr txBox="1"/>
          <p:nvPr/>
        </p:nvSpPr>
        <p:spPr>
          <a:xfrm xmlns:a="http://schemas.openxmlformats.org/drawingml/2006/main">
            <a:off x="540000" y="3960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151"/>
                </a:solidFill>
              </a:rPr>
              <a:t>Cheese leads by revenue (high unit price ~₹221), while Coffee leads units sold (153). Top 3 products span 3 different categories — healthy cross-category demand.</a:t>
            </a:r>
          </a:p>
        </p:txBody>
      </p:sp>
      <p:sp>
        <p:nvSpPr>
          <p:cNvPr id="100110" name="O2"/>
          <p:cNvSpPr txBox="1"/>
          <p:nvPr/>
        </p:nvSpPr>
        <p:spPr>
          <a:xfrm xmlns:a="http://schemas.openxmlformats.org/drawingml/2006/main">
            <a:off x="6120000" y="3960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74151"/>
                </a:solidFill>
              </a:rPr>
              <a:t>Tea has the best satisfaction among top 5 (4.02 rating) with 29 transactions — strong repeat purchase signal. Shampoo ranks 3rd despite only 27 transactions, driven by high unit price.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1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112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11</a:t>
            </a:r>
          </a:p>
        </p:txBody>
      </p:sp>
      <p:sp>
        <p:nvSpPr>
          <p:cNvPr id="100113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Business Insights &amp; Recommendations</a:t>
            </a:r>
          </a:p>
        </p:txBody>
      </p:sp>
      <p:sp>
        <p:nvSpPr>
          <p:cNvPr id="100114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Step 6 — Data-driven actions derived from the analysis</a:t>
            </a:r>
          </a:p>
        </p:txBody>
      </p:sp>
      <p:sp>
        <p:nvSpPr>
          <p:cNvPr id="100115" name="I1"/>
          <p:cNvSpPr txBox="1"/>
          <p:nvPr/>
        </p:nvSpPr>
        <p:spPr>
          <a:xfrm xmlns:a="http://schemas.openxmlformats.org/drawingml/2006/main">
            <a:off x="540000" y="1152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D4ED8"/>
                </a:solidFill>
              </a:rPr>
              <a:t>🏆  Best Category: Beverages (23% revenue, ₹684 avg order)</a:t>
            </a:r>
          </a:p>
          <a:p xmlns:a="http://schemas.openxmlformats.org/drawingml/2006/main">
            <a:r>
              <a:rPr lang="en-US" sz="1300">
                <a:solidFill>
                  <a:srgbClr val="1D4ED8"/>
                </a:solidFill>
              </a:rPr>
              <a:t>Action: Increase stock depth, run loyalty discounts, expand SKU variety.</a:t>
            </a:r>
          </a:p>
        </p:txBody>
      </p:sp>
      <p:sp>
        <p:nvSpPr>
          <p:cNvPr id="100116" name="I2"/>
          <p:cNvSpPr txBox="1"/>
          <p:nvPr/>
        </p:nvSpPr>
        <p:spPr>
          <a:xfrm xmlns:a="http://schemas.openxmlformats.org/drawingml/2006/main">
            <a:off x="540000" y="180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92400E"/>
                </a:solidFill>
              </a:rPr>
              <a:t>⚠️  Under-Performing: Bakery (2.7% revenue but HIGHEST rating 4.24)</a:t>
            </a:r>
          </a:p>
          <a:p xmlns:a="http://schemas.openxmlformats.org/drawingml/2006/main">
            <a:r>
              <a:rPr lang="en-US" sz="1300">
                <a:solidFill>
                  <a:srgbClr val="92400E"/>
                </a:solidFill>
              </a:rPr>
              <a:t>Action: Bundle with Beverages, increase shelf visibility, run try-it promotions.</a:t>
            </a:r>
          </a:p>
        </p:txBody>
      </p:sp>
      <p:sp>
        <p:nvSpPr>
          <p:cNvPr id="100117" name="I3"/>
          <p:cNvSpPr txBox="1"/>
          <p:nvPr/>
        </p:nvSpPr>
        <p:spPr>
          <a:xfrm xmlns:a="http://schemas.openxmlformats.org/drawingml/2006/main">
            <a:off x="540000" y="2448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66534"/>
                </a:solidFill>
              </a:rPr>
              <a:t>📍  Top Branch: Mumbai C (₹72,469 | 143 txns | Rating 4.05)</a:t>
            </a:r>
          </a:p>
          <a:p xmlns:a="http://schemas.openxmlformats.org/drawingml/2006/main">
            <a:r>
              <a:rPr lang="en-US" sz="1300">
                <a:solidFill>
                  <a:srgbClr val="166534"/>
                </a:solidFill>
              </a:rPr>
              <a:t>Action: Document and replicate Mumbai's operational practices chain-wide, especially in Jaipur.</a:t>
            </a:r>
          </a:p>
        </p:txBody>
      </p:sp>
      <p:sp>
        <p:nvSpPr>
          <p:cNvPr id="100118" name="I4"/>
          <p:cNvSpPr txBox="1"/>
          <p:nvPr/>
        </p:nvSpPr>
        <p:spPr>
          <a:xfrm xmlns:a="http://schemas.openxmlformats.org/drawingml/2006/main">
            <a:off x="540000" y="3096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D4ED8"/>
                </a:solidFill>
              </a:rPr>
              <a:t>💳  UPI is #1 Payment (27.8% | Avg Order ₹534 — highest) | Digital = 77.9% of revenue</a:t>
            </a:r>
          </a:p>
          <a:p xmlns:a="http://schemas.openxmlformats.org/drawingml/2006/main">
            <a:r>
              <a:rPr lang="en-US" sz="1300">
                <a:solidFill>
                  <a:srgbClr val="1D4ED8"/>
                </a:solidFill>
              </a:rPr>
              <a:t>Action: Partner with UPI providers for cashback; ensure zero-downtime payment systems.</a:t>
            </a:r>
          </a:p>
        </p:txBody>
      </p:sp>
      <p:sp>
        <p:nvSpPr>
          <p:cNvPr id="100119" name="I5"/>
          <p:cNvSpPr txBox="1"/>
          <p:nvPr/>
        </p:nvSpPr>
        <p:spPr>
          <a:xfrm xmlns:a="http://schemas.openxmlformats.org/drawingml/2006/main">
            <a:off x="540000" y="3744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6D28D9"/>
                </a:solidFill>
              </a:rPr>
              <a:t>👥  Normal customers spend ₹13.93 MORE per order than Members (₹497 vs ₹483)</a:t>
            </a:r>
          </a:p>
          <a:p xmlns:a="http://schemas.openxmlformats.org/drawingml/2006/main">
            <a:r>
              <a:rPr lang="en-US" sz="1300">
                <a:solidFill>
                  <a:srgbClr val="6D28D9"/>
                </a:solidFill>
              </a:rPr>
              <a:t>Action: Restructure membership with tiered rewards that incentivise larger basket sizes.</a:t>
            </a:r>
          </a:p>
        </p:txBody>
      </p:sp>
      <p:sp>
        <p:nvSpPr>
          <p:cNvPr id="100120" name="I6"/>
          <p:cNvSpPr txBox="1"/>
          <p:nvPr/>
        </p:nvSpPr>
        <p:spPr>
          <a:xfrm xmlns:a="http://schemas.openxmlformats.org/drawingml/2006/main">
            <a:off x="540000" y="4392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66534"/>
                </a:solidFill>
              </a:rPr>
              <a:t>📈  April = Peak Month (₹52,570 | 90 txns | Avg ₹584). February = Weakest full month.</a:t>
            </a:r>
          </a:p>
          <a:p xmlns:a="http://schemas.openxmlformats.org/drawingml/2006/main">
            <a:r>
              <a:rPr lang="en-US" sz="1300">
                <a:solidFill>
                  <a:srgbClr val="166534"/>
                </a:solidFill>
              </a:rPr>
              <a:t>Action: Pre-stock Beverages, Dairy &amp; Personal Care 3 weeks before April; February promotions.</a:t>
            </a:r>
          </a:p>
        </p:txBody>
      </p:sp>
      <p:sp>
        <p:nvSpPr>
          <p:cNvPr id="100121" name="I7"/>
          <p:cNvSpPr txBox="1"/>
          <p:nvPr/>
        </p:nvSpPr>
        <p:spPr>
          <a:xfrm xmlns:a="http://schemas.openxmlformats.org/drawingml/2006/main">
            <a:off x="540000" y="504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92400E"/>
                </a:solidFill>
              </a:rPr>
              <a:t>⭐  Avg Rating 3.99 — just below 4.0 benchmark. Jaipur lowest (3.84). Fruits lowest category (3.83).</a:t>
            </a:r>
          </a:p>
          <a:p xmlns:a="http://schemas.openxmlformats.org/drawingml/2006/main">
            <a:r>
              <a:rPr lang="en-US" sz="1300">
                <a:solidFill>
                  <a:srgbClr val="92400E"/>
                </a:solidFill>
              </a:rPr>
              <a:t>Action: Staff training for Jaipur; post-purchase feedback loop for low-rated product lines.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2" name="Accent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E3A5F"/>
              </a:solidFill>
            </a:endParaRPr>
          </a:p>
        </p:txBody>
      </p:sp>
      <p:sp>
        <p:nvSpPr>
          <p:cNvPr id="100123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9CA3AF"/>
                </a:solidFill>
              </a:rPr>
              <a:t>12</a:t>
            </a:r>
          </a:p>
        </p:txBody>
      </p:sp>
      <p:sp>
        <p:nvSpPr>
          <p:cNvPr id="100124" name="Title"/>
          <p:cNvSpPr txBox="1"/>
          <p:nvPr/>
        </p:nvSpPr>
        <p:spPr>
          <a:xfrm xmlns:a="http://schemas.openxmlformats.org/drawingml/2006/main">
            <a:off x="540000" y="216000"/>
            <a:ext cx="1008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E3A5F"/>
                </a:solidFill>
              </a:rPr>
              <a:t>Technology Stack</a:t>
            </a:r>
          </a:p>
        </p:txBody>
      </p:sp>
      <p:sp>
        <p:nvSpPr>
          <p:cNvPr id="100125" name="Sub"/>
          <p:cNvSpPr txBox="1"/>
          <p:nvPr/>
        </p:nvSpPr>
        <p:spPr>
          <a:xfrm xmlns:a="http://schemas.openxmlformats.org/drawingml/2006/main">
            <a:off x="540000" y="756000"/>
            <a:ext cx="100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6B7280"/>
                </a:solidFill>
              </a:rPr>
              <a:t>Tools and libraries used to build the complete analytics pipeline</a:t>
            </a:r>
          </a:p>
        </p:txBody>
      </p:sp>
      <p:sp>
        <p:nvSpPr>
          <p:cNvPr id="100126" name="T1"/>
          <p:cNvSpPr txBox="1"/>
          <p:nvPr/>
        </p:nvSpPr>
        <p:spPr>
          <a:xfrm xmlns:a="http://schemas.openxmlformats.org/drawingml/2006/main">
            <a:off x="540000" y="1188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Python 3.13</a:t>
            </a:r>
          </a:p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Core language</a:t>
            </a:r>
          </a:p>
        </p:txBody>
      </p:sp>
      <p:sp>
        <p:nvSpPr>
          <p:cNvPr id="100127" name="T2"/>
          <p:cNvSpPr txBox="1"/>
          <p:nvPr/>
        </p:nvSpPr>
        <p:spPr>
          <a:xfrm xmlns:a="http://schemas.openxmlformats.org/drawingml/2006/main">
            <a:off x="3348000" y="1188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Pandas 3.0</a:t>
            </a:r>
          </a:p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Data loading &amp; aggregation</a:t>
            </a:r>
          </a:p>
        </p:txBody>
      </p:sp>
      <p:sp>
        <p:nvSpPr>
          <p:cNvPr id="100128" name="T3"/>
          <p:cNvSpPr txBox="1"/>
          <p:nvPr/>
        </p:nvSpPr>
        <p:spPr>
          <a:xfrm xmlns:a="http://schemas.openxmlformats.org/drawingml/2006/main">
            <a:off x="6156000" y="1188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Plotly 7.1</a:t>
            </a:r>
          </a:p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Interactive charts</a:t>
            </a:r>
          </a:p>
        </p:txBody>
      </p:sp>
      <p:sp>
        <p:nvSpPr>
          <p:cNvPr id="100129" name="T4"/>
          <p:cNvSpPr txBox="1"/>
          <p:nvPr/>
        </p:nvSpPr>
        <p:spPr>
          <a:xfrm xmlns:a="http://schemas.openxmlformats.org/drawingml/2006/main">
            <a:off x="8964000" y="1188000"/>
            <a:ext cx="2376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Streamlit 1.64</a:t>
            </a:r>
          </a:p>
          <a:p xmlns:a="http://schemas.openxmlformats.org/drawingml/2006/main">
            <a:r>
              <a:rPr lang="en-US" sz="1600" b="1">
                <a:solidFill>
                  <a:srgbClr val="1E3A5F"/>
                </a:solidFill>
              </a:rPr>
              <a:t>Web dashboard frontend</a:t>
            </a:r>
          </a:p>
        </p:txBody>
      </p:sp>
      <p:sp>
        <p:nvSpPr>
          <p:cNvPr id="100130" name="FileHeader"/>
          <p:cNvSpPr txBox="1"/>
          <p:nvPr/>
        </p:nvSpPr>
        <p:spPr>
          <a:xfrm xmlns:a="http://schemas.openxmlformats.org/drawingml/2006/main">
            <a:off x="540000" y="252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File                                Role                                                Key Functions</a:t>
            </a:r>
          </a:p>
        </p:txBody>
      </p:sp>
      <p:sp>
        <p:nvSpPr>
          <p:cNvPr id="100131" name="F1"/>
          <p:cNvSpPr txBox="1"/>
          <p:nvPr/>
        </p:nvSpPr>
        <p:spPr>
          <a:xfrm xmlns:a="http://schemas.openxmlformats.org/drawingml/2006/main">
            <a:off x="540000" y="288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74151"/>
                </a:solidFill>
              </a:rPr>
              <a:t>data_loader.py          Steps 1–3: Load, validate, clean             load_data()  check_data_quality()  clean_data()</a:t>
            </a:r>
          </a:p>
        </p:txBody>
      </p:sp>
      <p:sp>
        <p:nvSpPr>
          <p:cNvPr id="100132" name="F2"/>
          <p:cNvSpPr txBox="1"/>
          <p:nvPr/>
        </p:nvSpPr>
        <p:spPr>
          <a:xfrm xmlns:a="http://schemas.openxmlformats.org/drawingml/2006/main">
            <a:off x="540000" y="3312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74151"/>
                </a:solidFill>
              </a:rPr>
              <a:t>analytics.py              Step 4: Aggregations                             overall_kpis()  sales_by_category()  generate_insights()</a:t>
            </a:r>
          </a:p>
        </p:txBody>
      </p:sp>
      <p:sp>
        <p:nvSpPr>
          <p:cNvPr id="100133" name="F3"/>
          <p:cNvSpPr txBox="1"/>
          <p:nvPr/>
        </p:nvSpPr>
        <p:spPr>
          <a:xfrm xmlns:a="http://schemas.openxmlformats.org/drawingml/2006/main">
            <a:off x="540000" y="3744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74151"/>
                </a:solidFill>
              </a:rPr>
              <a:t>app.py                        Steps 5–6: Streamlit UI                          8-tab app  20+ Plotly charts  sidebar filters</a:t>
            </a:r>
          </a:p>
        </p:txBody>
      </p:sp>
      <p:sp>
        <p:nvSpPr>
          <p:cNvPr id="100134" name="F4"/>
          <p:cNvSpPr txBox="1"/>
          <p:nvPr/>
        </p:nvSpPr>
        <p:spPr>
          <a:xfrm xmlns:a="http://schemas.openxmlformats.org/drawingml/2006/main">
            <a:off x="540000" y="4176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74151"/>
                </a:solidFill>
              </a:rPr>
              <a:t>data/supermarket_data.csv   Source dataset                               500 rows × 13 columns</a:t>
            </a:r>
          </a:p>
        </p:txBody>
      </p:sp>
      <p:sp>
        <p:nvSpPr>
          <p:cNvPr id="100135" name="Run"/>
          <p:cNvSpPr txBox="1"/>
          <p:nvPr/>
        </p:nvSpPr>
        <p:spPr>
          <a:xfrm xmlns:a="http://schemas.openxmlformats.org/drawingml/2006/main">
            <a:off x="540000" y="4788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2563EB"/>
                </a:solidFill>
              </a:rPr>
              <a:t>Run Command:    cd supermarket_analysis    →    streamlit run app.py    →    Opens at http://localhost:8501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136" name="SlideNum"/>
          <p:cNvSpPr txBox="1"/>
          <p:nvPr/>
        </p:nvSpPr>
        <p:spPr>
          <a:xfrm xmlns:a="http://schemas.openxmlformats.org/drawingml/2006/main">
            <a:off x="11160000" y="108000"/>
            <a:ext cx="7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60A5FA"/>
                </a:solidFill>
              </a:rPr>
              <a:t>13</a:t>
            </a:r>
          </a:p>
        </p:txBody>
      </p:sp>
      <p:sp>
        <p:nvSpPr>
          <p:cNvPr id="100137" name="Title"/>
          <p:cNvSpPr txBox="1"/>
          <p:nvPr/>
        </p:nvSpPr>
        <p:spPr>
          <a:xfrm xmlns:a="http://schemas.openxmlformats.org/drawingml/2006/main">
            <a:off x="540000" y="432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100138" name="C1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DCFCE7"/>
                </a:solidFill>
              </a:rPr>
              <a:t>✅  Dataset is 100% clean — zero missing values, duplicates, or calculation errors</a:t>
            </a:r>
          </a:p>
        </p:txBody>
      </p:sp>
      <p:sp>
        <p:nvSpPr>
          <p:cNvPr id="100139" name="C2"/>
          <p:cNvSpPr txBox="1"/>
          <p:nvPr/>
        </p:nvSpPr>
        <p:spPr>
          <a:xfrm xmlns:a="http://schemas.openxmlformats.org/drawingml/2006/main">
            <a:off x="540000" y="162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BFDBFE"/>
                </a:solidFill>
              </a:rPr>
              <a:t>🏆  Beverages leads revenue (23%); Bakery has highest satisfaction (4.24) — growth opportunity</a:t>
            </a:r>
          </a:p>
        </p:txBody>
      </p:sp>
      <p:sp>
        <p:nvSpPr>
          <p:cNvPr id="100140" name="C3"/>
          <p:cNvSpPr txBox="1"/>
          <p:nvPr/>
        </p:nvSpPr>
        <p:spPr>
          <a:xfrm xmlns:a="http://schemas.openxmlformats.org/drawingml/2006/main">
            <a:off x="540000" y="2088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BFDBFE"/>
                </a:solidFill>
              </a:rPr>
              <a:t>📍  Mumbai Branch C is the top performer — its practices should be replicated chain-wide</a:t>
            </a:r>
          </a:p>
        </p:txBody>
      </p:sp>
      <p:sp>
        <p:nvSpPr>
          <p:cNvPr id="100141" name="C4"/>
          <p:cNvSpPr txBox="1"/>
          <p:nvPr/>
        </p:nvSpPr>
        <p:spPr>
          <a:xfrm xmlns:a="http://schemas.openxmlformats.org/drawingml/2006/main">
            <a:off x="540000" y="2556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BFDBFE"/>
                </a:solidFill>
              </a:rPr>
              <a:t>💳  Digital payments (UPI + Net Banking + Card) account for 77.9% of all revenue</a:t>
            </a:r>
          </a:p>
        </p:txBody>
      </p:sp>
      <p:sp>
        <p:nvSpPr>
          <p:cNvPr id="100142" name="C5"/>
          <p:cNvSpPr txBox="1"/>
          <p:nvPr/>
        </p:nvSpPr>
        <p:spPr>
          <a:xfrm xmlns:a="http://schemas.openxmlformats.org/drawingml/2006/main">
            <a:off x="540000" y="3024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BFDBFE"/>
                </a:solidFill>
              </a:rPr>
              <a:t>📈  April is peak month — inventory and marketing must be front-loaded for Q2 every year</a:t>
            </a:r>
          </a:p>
        </p:txBody>
      </p:sp>
      <p:sp>
        <p:nvSpPr>
          <p:cNvPr id="100143" name="C6"/>
          <p:cNvSpPr txBox="1"/>
          <p:nvPr/>
        </p:nvSpPr>
        <p:spPr>
          <a:xfrm xmlns:a="http://schemas.openxmlformats.org/drawingml/2006/main">
            <a:off x="540000" y="349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BFDBFE"/>
                </a:solidFill>
              </a:rPr>
              <a:t>👥  Membership drives volume; benefits need restructuring to increase per-order basket size</a:t>
            </a:r>
          </a:p>
        </p:txBody>
      </p:sp>
      <p:sp>
        <p:nvSpPr>
          <p:cNvPr id="100144" name="C7"/>
          <p:cNvSpPr txBox="1"/>
          <p:nvPr/>
        </p:nvSpPr>
        <p:spPr>
          <a:xfrm xmlns:a="http://schemas.openxmlformats.org/drawingml/2006/main">
            <a:off x="540000" y="396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EF3C7"/>
                </a:solidFill>
              </a:rPr>
              <a:t>⭐  Overall rating 3.99/5 — near-good; Jaipur (3.84) and Fruits (3.83) need focused attention</a:t>
            </a:r>
          </a:p>
        </p:txBody>
      </p:sp>
      <p:sp>
        <p:nvSpPr>
          <p:cNvPr id="100145" name="Divider"/>
          <p:cNvSpPr txBox="1"/>
          <p:nvPr/>
        </p:nvSpPr>
        <p:spPr>
          <a:xfrm xmlns:a="http://schemas.openxmlformats.org/drawingml/2006/main">
            <a:off x="540000" y="4608000"/>
            <a:ext cx="1080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3B82F6"/>
              </a:solidFill>
            </a:endParaRPr>
          </a:p>
        </p:txBody>
      </p:sp>
      <p:sp>
        <p:nvSpPr>
          <p:cNvPr id="100146" name="ThankYou"/>
          <p:cNvSpPr txBox="1"/>
          <p:nvPr/>
        </p:nvSpPr>
        <p:spPr>
          <a:xfrm xmlns:a="http://schemas.openxmlformats.org/drawingml/2006/main">
            <a:off x="540000" y="486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147" name="Footer"/>
          <p:cNvSpPr txBox="1"/>
          <p:nvPr/>
        </p:nvSpPr>
        <p:spPr>
          <a:xfrm xmlns:a="http://schemas.openxmlformats.org/drawingml/2006/main">
            <a:off x="540000" y="594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0A5FA"/>
                </a:solidFill>
              </a:rPr>
              <a:t>Supermarket Sales Analytics  ·  Python · Pandas · Plotly · Streamlit  ·  500 Transactions · Jan–Jul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2026-09-24T13:52:00Z</dcterms:created>
  <cp:lastModifiedBy>OfficeCLI</cp:lastModifiedBy>
  <dcterms:modified xsi:type="dcterms:W3CDTF">2026-09-24T13:52:00Z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2026-09-24T13:57:33Z</vt:lpwstr>
  </op:property>
</op:Properties>
</file>